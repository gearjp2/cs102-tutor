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ผู้เรียนควรรู้จักตัวแปร if และ for ก่อนเริ่มบทนี้ ขอบเขตไม่รวม pointers หรือ dynamic memory allocation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กรณีตัวอย่างคือ automatic local array; static/global array มีกฎค่าเริ่มต้นต่างออกไป ไม่จำเป็นต้องขยายในบทนี้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#include &lt;stdio.h&gt; และ #include &lt;string.h&gt; ตามฟังก์ชันที่เรียก วางตัวอย่างภายใน int main(void).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#include &lt;stdio.h&gt; และ #include &lt;string.h&gt; ตามฟังก์ชันที่เรียก วางตัวอย่างภายใน int main(void).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#include &lt;stdio.h&gt; และ #include &lt;string.h&gt; ตามฟังก์ชันที่เรียก วางตัวอย่างภายใน int main(void).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#include &lt;stdio.h&gt; และ #include &lt;string.h&gt; ตามฟังก์ชันที่เรียก วางตัวอย่างภายใน int main(void).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คู่แรก 4 กับ 1 ไม่สลับ ตัวอย่างนี้บังเอิญเรียงครบหลังรอบแรก อัลกอริทึมทั่วไปยังทำซ้ำตามลูป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#include &lt;stdio.h&gt; และ #include &lt;string.h&gt; ตามฟังก์ชันที่เรียก วางตัวอย่างภายใน int main(void).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อ้างอิง WG14 N1256 §6.7.5.2 และ §6.7.8: https://www.open-std.org/jtc1/sc22/wg14/www/docs/n1256.pdf</a:t>
            </a:r>
          </a:p>
          <a:p>
            <a:r>
              <a:t>VLA ไม่ใช่ dynamic resizable array. จำกัด n ไว้ที่ 100 สำหรับตัวอย่างในห้องเรียน.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'\0' ต่างจาก '0': ตัวแรกคือ null character ตัวหลังคืออักขระเลขศูนย์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อนุญาตประกาศ char bad[5] = "Hello" แต่ไม่มี null terminator การส่งให้ %s หรือ strlen อาจอ่านนอกขอบเขต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#include &lt;stdio.h&gt; และ #include &lt;string.h&gt; ตามฟังก์ชันที่เรียก วางตัวอย่างภายใน int main(void).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เมื่อใช้ scanf ก่อน fgets ต้องจัดการ newline ที่ค้างใน input; ไม่แนะนำให้ทดลองสองบล็อกต่อกันโดยตรง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strcmp ไม่รับประกันค่า -1 หรือ 1 ใช้เครื่องหมายของค่าเพื่อแปลผล ไม่ใช้ == เปรียบเทียบเนื้อหา String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#include &lt;stdio.h&gt; และ #include &lt;string.h&gt; ตามฟังก์ชันที่เรียก วางตัวอย่างภายใน int main(void).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ตัวอย่างนี้ใช้กับภาษาอังกฤษ ASCII การสลับทีละ byte ไม่เหมาะสำหรับข้อความไทย UTF-8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ตัวอย่าง sizeof นี้ใช้กับตัวอาเรย์ที่ประกาศใน scope เดียวกัน ไม่ขยายไปเรื่อง array parameters และ pointers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#include &lt;stdio.h&gt; และ #include &lt;string.h&gt; ตามฟังก์ชันที่เรียก วางตัวอย่างภายใน int main(void).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เฉลย: {1, 0, 0, 0, 0}</a:t>
            </a:r>
          </a:p>
          <a:p>
            <a:r>
              <a:t>อ้างอิงกฎภาษา: WG14 N1256 https://www.open-std.org/jtc1/sc22/wg14/www/docs/n1256.pdf</a:t>
            </a:r>
          </a:p>
          <a:p>
            <a:r>
              <a:t>6.7.5.2 array declarators, 6.7.8 initialization, 7.21 string handling.</a:t>
            </a:r>
          </a:p>
          <a:p>
            <a:r>
              <a:t>ตัวอย่างโค้ดใช้ C99. สอนเฉพาะอาเรย์และการใช้ฟังก์ชัน String ไม่ขยายเรื่อง pointers, malloc หรือ structs.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C PROGRAMMING / CLASSROOM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ARRAY IN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จากข้อมูลหนึ่งค่า สู่การจัดการข้อมูลทั้งชุด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01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6400800" cy="1280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864"/>
              </a:lnSpc>
              <a:spcAft>
                <a:spcPts val="0"/>
              </a:spcAft>
              <a:defRPr sz="3800" b="1">
                <a:solidFill>
                  <a:srgbClr val="162238"/>
                </a:solidFill>
                <a:latin typeface="Loma"/>
              </a:defRPr>
            </a:pPr>
            <a:r>
              <a:t>อ่านตำแหน่งให้เป็น</a:t>
            </a:r>
          </a:p>
          <a:p>
            <a:pPr>
              <a:lnSpc>
                <a:spcPts val="4864"/>
              </a:lnSpc>
              <a:spcAft>
                <a:spcPts val="0"/>
              </a:spcAft>
              <a:defRPr sz="3800" b="1">
                <a:solidFill>
                  <a:srgbClr val="162238"/>
                </a:solidFill>
                <a:latin typeface="Loma"/>
              </a:defRPr>
            </a:pPr>
            <a:r>
              <a:t>จัดการข้อมูลให้ได้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40480"/>
            <a:ext cx="1344168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3986784"/>
            <a:ext cx="1143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70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72584"/>
            <a:ext cx="1234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[0]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57400" y="3840480"/>
            <a:ext cx="1344168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03704" y="3986784"/>
            <a:ext cx="1143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672584"/>
            <a:ext cx="1234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[1]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3840480"/>
            <a:ext cx="1344168" cy="7315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21024" y="3986784"/>
            <a:ext cx="1143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79" y="4672584"/>
            <a:ext cx="1234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[2]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92040" y="3840480"/>
            <a:ext cx="1344168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8344" y="3986784"/>
            <a:ext cx="1143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65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4672584"/>
            <a:ext cx="1234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[3]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840480"/>
            <a:ext cx="1344168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3986784"/>
            <a:ext cx="1143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85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672584"/>
            <a:ext cx="1234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[4]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148840"/>
            <a:ext cx="320040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087F8C"/>
                </a:solidFill>
                <a:latin typeface="Loma"/>
              </a:defRPr>
            </a:pPr>
            <a:r>
              <a:t>01  Array datatype</a:t>
            </a:r>
          </a:p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087F8C"/>
                </a:solidFill>
                <a:latin typeface="Loma"/>
              </a:defRPr>
            </a:pPr>
          </a:p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087F8C"/>
                </a:solidFill>
                <a:latin typeface="Loma"/>
              </a:defRPr>
            </a:pPr>
            <a:r>
              <a:t>02  1D arrays</a:t>
            </a:r>
          </a:p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087F8C"/>
                </a:solidFill>
                <a:latin typeface="Loma"/>
              </a:defRPr>
            </a:pPr>
          </a:p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087F8C"/>
                </a:solidFill>
                <a:latin typeface="Loma"/>
              </a:defRPr>
            </a:pPr>
            <a:r>
              <a:t>03  Character arrays</a:t>
            </a:r>
          </a:p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087F8C"/>
                </a:solidFill>
                <a:latin typeface="Loma"/>
              </a:defRPr>
            </a:pPr>
          </a:p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087F8C"/>
                </a:solidFill>
                <a:latin typeface="Loma"/>
              </a:defRPr>
            </a:pPr>
            <a:r>
              <a:t>04  Multi-dimensional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01 / ARRAY DATATYPE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Array คืออะไร?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สมาชิกชนิดเดียวกัน • อยู่ต่อเนื่องกัน • เข้าถึงผ่าน Index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02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148840"/>
            <a:ext cx="11064240" cy="12344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258568"/>
            <a:ext cx="1066190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651760"/>
            <a:ext cx="10661904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0">
                <a:solidFill>
                  <a:srgbClr val="EEF4FC"/>
                </a:solidFill>
                <a:latin typeface="DejaVu Sans Mono"/>
              </a:defRPr>
            </a:pPr>
            <a:r>
              <a:t>int scores[3] = {70, 80, 90};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40" y="3703320"/>
            <a:ext cx="2395728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3744" y="384962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70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535424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scores[0]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703320"/>
            <a:ext cx="2395728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2624" y="384962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535424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scores[1]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0" y="3703320"/>
            <a:ext cx="2395728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3849624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4535424"/>
            <a:ext cx="22860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scores[2]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Index เริ่มที่ 0  &gt;  สมาชิกตัวแรกคือ scores[0]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02 / ONE-DIMENSIONAL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ประกาศอาเรย์ 1 มิติ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ชนิดข้อมูล + ชื่ออาเรย์ + จำนวนสมาชิก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03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2918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EEF4FC"/>
                </a:solidFill>
                <a:latin typeface="DejaVu Sans Mono"/>
              </a:defRPr>
            </a:pPr>
            <a:r>
              <a:t>data_type array_name[size];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EEF4FC"/>
                </a:solidFill>
                <a:latin typeface="DejaVu Sans Mono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EEF4FC"/>
                </a:solidFill>
                <a:latin typeface="DejaVu Sans Mono"/>
              </a:defRPr>
            </a:pPr>
            <a:r>
              <a:t>int scores[5];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EEF4FC"/>
                </a:solidFill>
                <a:latin typeface="DejaVu Sans Mono"/>
              </a:defRPr>
            </a:pPr>
            <a:r>
              <a:t>float prices[10];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EEF4FC"/>
                </a:solidFill>
                <a:latin typeface="DejaVu Sans Mono"/>
              </a:defRPr>
            </a:pPr>
            <a:r>
              <a:t>char letters[26];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int scores[5];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ชื่อ: scores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สมาชิก: 5 ตัว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ชนิดของสมาชิก: int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Index: 0 ถึง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อาเรย์ local ทั่วไปที่ยังไม่กำหนดค่า: ห้ามนำค่าที่ยังไม่กำหนดมาใช้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02 /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กำหนดค่าเริ่มต้นได้หลายรูปแบบ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ช่องที่ไม่ได้ระบุใน initializer จะถูกกำหนดเป็นศูนย์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04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10972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6400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162238"/>
                </a:solidFill>
                <a:latin typeface="DejaVu Sans Mono"/>
              </a:defRPr>
            </a:pPr>
            <a:r>
              <a:t>int a[4] = {1, 2, 3, 4};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48840"/>
            <a:ext cx="40233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087F8C"/>
                </a:solidFill>
                <a:latin typeface="DejaVu Sans Mono"/>
              </a:defRPr>
            </a:pPr>
            <a:r>
              <a:t>1  2  3  4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679192"/>
            <a:ext cx="10972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770632"/>
            <a:ext cx="6400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162238"/>
                </a:solidFill>
                <a:latin typeface="DejaVu Sans Mono"/>
              </a:defRPr>
            </a:pPr>
            <a:r>
              <a:t>int b[4] = {1, 2};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770632"/>
            <a:ext cx="40233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087F8C"/>
                </a:solidFill>
                <a:latin typeface="DejaVu Sans Mono"/>
              </a:defRPr>
            </a:pPr>
            <a:r>
              <a:t>1  2  0  0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00984"/>
            <a:ext cx="10972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92424"/>
            <a:ext cx="6400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162238"/>
                </a:solidFill>
                <a:latin typeface="DejaVu Sans Mono"/>
              </a:defRPr>
            </a:pPr>
            <a:r>
              <a:t>int c[4] = {0};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392424"/>
            <a:ext cx="40233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087F8C"/>
                </a:solidFill>
                <a:latin typeface="DejaVu Sans Mono"/>
              </a:defRPr>
            </a:pPr>
            <a:r>
              <a:t>0  0  0  0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22776"/>
            <a:ext cx="10972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14215"/>
            <a:ext cx="6400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162238"/>
                </a:solidFill>
                <a:latin typeface="DejaVu Sans Mono"/>
              </a:defRPr>
            </a:pPr>
            <a:r>
              <a:t>int d[4] = {0, 0, 0, 0};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014215"/>
            <a:ext cx="40233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087F8C"/>
                </a:solidFill>
                <a:latin typeface="DejaVu Sans Mono"/>
              </a:defRPr>
            </a:pPr>
            <a:r>
              <a:t>0  0  0  0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44568"/>
            <a:ext cx="1097280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36008"/>
            <a:ext cx="6400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162238"/>
                </a:solidFill>
                <a:latin typeface="DejaVu Sans Mono"/>
              </a:defRPr>
            </a:pPr>
            <a:r>
              <a:t>int e[] = {7, 8, 9};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636008"/>
            <a:ext cx="40233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087F8C"/>
                </a:solidFill>
                <a:latin typeface="DejaVu Sans Mono"/>
              </a:defRPr>
            </a:pPr>
            <a:r>
              <a:t>7  8  9  (3 items)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int a[4] = {5}; ได้ 5, 0, 0, 0 — ถ้าต้องการทุกช่องเป็น 5 ให้ใช้ลูป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02 / INITIALIZATION &amp;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สร้างค่าเริ่มต้น != เปลี่ยนค่าภายหลัง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แยกการประกาศอาเรย์ออกจากการเขียนค่าลงในสมาชิก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05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1089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514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EEF4FC"/>
                </a:solidFill>
                <a:latin typeface="DejaVu Sans Mono"/>
              </a:defRPr>
            </a:pPr>
            <a:r>
              <a:t>int a[3] = {10, 20, 30};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EEF4FC"/>
                </a:solidFill>
                <a:latin typeface="DejaVu Sans Mono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EEF4FC"/>
                </a:solidFill>
                <a:latin typeface="DejaVu Sans Mono"/>
              </a:defRPr>
            </a:pPr>
            <a:r>
              <a:t>a[0] = 99;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EEF4FC"/>
                </a:solidFill>
                <a:latin typeface="DejaVu Sans Mono"/>
              </a:defRPr>
            </a:pPr>
            <a:r>
              <a:t>a[2] = 50;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ผลลัพธ์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a[0] &gt; 99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a[1] &gt; 20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a[2] &gt; 50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เปลี่ยนได้ทีละสมาชิก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เขียนไม่ได้: int b[3] = 0;   และ   a = {1, 2, 3};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02 / INDEX &amp; BOUNDS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เข้าถึงสมาชิกอย่างถูกตำแหน่ง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อาเรย์ขนาด n ใช้ Index ตั้งแต่ 0 ถึง n - 1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06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5204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a[5] = {10, 20, 30, 40, 50};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printf("%d\n", a[0]);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printf("%d\n", a[4]);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a[1] = 99;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printf("%d\n", a[1]);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10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50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a[5] และ a[-1] อยู่นอกขอบเขต &gt; Undefined Behavior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02 / TRAVERSAL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ใช้ Loop เข้าถึงทุกสมาชิก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ให้ตัวแปร i วิ่งผ่าน Index ที่ใช้ได้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07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5204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a[5] = {10, 20, 30, 40, 50};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for (int i = 0; i &lt; 5; i++) {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printf("a[%d] = %d\n", i, a[i]);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a[0] = 10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a[1] = 20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a[2] = 30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a[3] = 40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a[4] = 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ใช้ i &lt; 5  ไม่ใช่ i &lt;= 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02 / FIND MAX &amp;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ตัวอย่าง: หาค่าสูงสุดและต่ำสุด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เริ่มจากสมาชิกตัวแรก แล้วตรวจสมาชิกที่เหลือ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08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5204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a[5] = {12, 7, 25, 3, 18};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max = a[0], min = a[0];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for (int i = 1; i &lt; 5; i++) {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if (a[i] &gt; max) max = a[i];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if (a[i] &lt; min) min = a[i];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printf("Max = %d\n", max);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printf("Min = %d\n", min);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Max = 25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Min = 3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ตรวจครบทุกสมาชิก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เริ่มเปรียบเทียบที่ i =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ไม่ตั้ง max = 0 โดยไม่ดูข้อมูล เพราะข้อมูลอาจเป็นจำนวนลบทั้งหมด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02 / SUM &amp;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ตัวอย่าง: ผลรวมและค่าเฉลี่ย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ค่าเฉลี่ย = ผลรวม ÷ จำนวนสมาชิก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09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5204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scores[5] = {70, 80, 65, 90, 85};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double sum = 0;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for (int i = 0; i &lt; 5; i++) {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sum += scores[i];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double average = sum / 5;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printf("Sum = %.0f\n", sum);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printf("Average = %.2f\n", average);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Sum = 390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Average = 78.00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ใช้ double เพื่อให้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การหารเก็บทศนิยมได้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02 / SWAP &amp; COPY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สลับค่า และคัดลอกข้อมูล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เก็บค่าเดิมไว้ก่อนเขียนทับด้วยตัวแปร temp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10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5204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int a[3] = {10, 20, 30};</a:t>
            </a: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int temp = a[0];</a:t>
            </a: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a[0] = a[2];</a:t>
            </a: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a[2] = temp;</a:t>
            </a: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int b[3];</a:t>
            </a: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for (int i = 0; i &lt; 3; i++) {</a:t>
            </a: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    b[i] = a[i];</a:t>
            </a: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หลังสลับค่า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a = {30, 20, 10}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หลังคัดลอก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b = {30, 20, 10}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ปลายทางต้องมีที่พอ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คัดลอกทั้งอาเรย์ด้วย b = a; ไม่ได้ &gt; คัดลอกทีละสมาชิกผ่านลูป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02 / SORTING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Bubble Sort: มาก &gt; น้อย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เปรียบเทียบคู่ที่ติดกัน • ถ้าซ้ายน้อยกว่าขวา ให้สลับ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11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926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00"/>
              </a:lnSpc>
              <a:spcAft>
                <a:spcPts val="0"/>
              </a:spcAft>
              <a:defRPr sz="2500" b="1">
                <a:solidFill>
                  <a:srgbClr val="162238"/>
                </a:solidFill>
                <a:latin typeface="Loma"/>
              </a:defRPr>
            </a:pPr>
            <a:r>
              <a:t>เริ่มต้น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2057400"/>
            <a:ext cx="1508760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19456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59" y="2057400"/>
            <a:ext cx="1508760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19456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79" y="2057400"/>
            <a:ext cx="1508760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219456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2057400"/>
            <a:ext cx="1508760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219456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2926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00"/>
              </a:lnSpc>
              <a:spcAft>
                <a:spcPts val="0"/>
              </a:spcAft>
              <a:defRPr sz="2500" b="1">
                <a:solidFill>
                  <a:srgbClr val="162238"/>
                </a:solidFill>
                <a:latin typeface="Loma"/>
              </a:defRPr>
            </a:pPr>
            <a:r>
              <a:t>สลับ 1 กับ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49039" y="3063240"/>
            <a:ext cx="1508760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0" y="320040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94959" y="3063240"/>
            <a:ext cx="1508760" cy="7315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97880" y="320040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79" y="3063240"/>
            <a:ext cx="1508760" cy="7315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43800" y="320040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3063240"/>
            <a:ext cx="1508760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9720" y="320040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2926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200"/>
              </a:lnSpc>
              <a:spcAft>
                <a:spcPts val="0"/>
              </a:spcAft>
              <a:defRPr sz="2500" b="1">
                <a:solidFill>
                  <a:srgbClr val="162238"/>
                </a:solidFill>
                <a:latin typeface="Loma"/>
              </a:defRPr>
            </a:pPr>
            <a:r>
              <a:t>สลับ 1 กับ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39" y="4069080"/>
            <a:ext cx="1508760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60" y="420624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94959" y="4069080"/>
            <a:ext cx="1508760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420624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79" y="4069080"/>
            <a:ext cx="1508760" cy="7315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420624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4069080"/>
            <a:ext cx="1508760" cy="7315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4206240"/>
            <a:ext cx="6400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584"/>
              </a:lnSpc>
              <a:spcAft>
                <a:spcPts val="0"/>
              </a:spcAft>
              <a:defRPr sz="2800" b="1">
                <a:solidFill>
                  <a:srgbClr val="FFFFFF"/>
                </a:solidFill>
                <a:latin typeface="Loma"/>
              </a:defRPr>
            </a:pPr>
            <a: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จบรอบแรก: ค่าน้อยที่สุดอยู่ขวาสุด • ข้อมูลบางชุดต้องทำต่ออีกหลายรอบ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02 / SORTING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Bubble Sort ด้วยลูปซ้อน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ลูปนอกนับรอบ • ลูปในเปรียบเทียบสมาชิก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12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40690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3474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int a[5] = {12, 7, 25, 3, 18};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int n = 5;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for (int pass = 0; pass &lt; n - 1; pass++) {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  for (int j = 0; j &lt; n - 1 - pass; j++) {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    if (a[j] &lt; a[j + 1]) {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      int temp = a[j];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      a[j] = a[j + 1];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      a[j + 1] = temp;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    }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  }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for (int i = 0; i &lt; n; i++)</a:t>
            </a:r>
          </a:p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EEF4FC"/>
                </a:solidFill>
                <a:latin typeface="DejaVu Sans Mono"/>
              </a:defRPr>
            </a:pPr>
            <a:r>
              <a:t>  printf("%d ", a[i]);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25 18 12 7 3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- pass ลดการตรวจ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ส่วนท้ายที่เรียงแล้ว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เรียงน้อย &gt; มาก: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เปลี่ยน &lt; เป็น 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02 / VARIABLE LENGTH ARRAY — C99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VLA: เลือกขนาดตอนรัน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Non-fixed size ในบทนี้: ขนาดมาจากค่าที่ทราบระหว่างรัน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13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5204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n;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if (scanf("%d", &amp;n) != 1 ||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n &lt; 1 || n &gt; 100) {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return 1;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a[n];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for (int i = 0; i &lt; n; i++) {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a[i] = 0;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printf("%d\n", a[n - 1]);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สิ่งที่ต้องจำ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ขนาดต้องเป็นบวก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สร้างแล้วขนาดคงเดิม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แม้เปลี่ยนค่า n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C99: VLA ใช้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initializer ไม่ได้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int a[n] = {0}; ใช้ไม่ได้กับ VLA ใน C99 &gt; ใช้ลูปกำหนดค่า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03 / ARRAY OF CHARACTER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String คืออาเรย์ของ char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String ต้องลงท้ายด้วย Null character: \0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14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11064240" cy="128016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1066190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10661904" cy="6857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0">
                <a:solidFill>
                  <a:srgbClr val="EEF4FC"/>
                </a:solidFill>
                <a:latin typeface="DejaVu Sans Mono"/>
              </a:defRPr>
            </a:pPr>
            <a:r>
              <a:t>char word[] = "CAT";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703320"/>
            <a:ext cx="2029967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75104" y="3849624"/>
            <a:ext cx="182879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'C'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535424"/>
            <a:ext cx="192023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[0]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3703320"/>
            <a:ext cx="2029967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78224" y="3849624"/>
            <a:ext cx="182879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'A'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4535424"/>
            <a:ext cx="192023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[1]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703320"/>
            <a:ext cx="2029967" cy="73152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3849624"/>
            <a:ext cx="182879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'T'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535424"/>
            <a:ext cx="192023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[2]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3703320"/>
            <a:ext cx="2029967" cy="73152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3" y="3849624"/>
            <a:ext cx="1828799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FFFFFF"/>
                </a:solidFill>
                <a:latin typeface="DejaVu Sans Mono"/>
              </a:defRPr>
            </a:pPr>
            <a:r>
              <a:t>'\0'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4535424"/>
            <a:ext cx="1920239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0"/>
              </a:spcAft>
              <a:defRPr sz="1600" b="0">
                <a:solidFill>
                  <a:srgbClr val="64748B"/>
                </a:solidFill>
                <a:latin typeface="DejaVu Sans Mono"/>
              </a:defRPr>
            </a:pPr>
            <a:r>
              <a:t>[3]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ข้อความยาว 3 ตัวอักษร แต่ใช้ 4 ช่อง • char array ที่ไม่มี \0 ไม่ใช่ String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03 / STRING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ประกาศและกำหนดค่า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เผื่อพื้นที่สำหรับ \0 เพิ่มอีกอย่างน้อย 1 ช่อง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15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2918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EEF4FC"/>
                </a:solidFill>
                <a:latin typeface="DejaVu Sans Mono"/>
              </a:defRPr>
            </a:pPr>
            <a:r>
              <a:t>char a[] = "Hello";</a:t>
            </a:r>
          </a:p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EEF4FC"/>
                </a:solidFill>
                <a:latin typeface="DejaVu Sans Mono"/>
              </a:defRPr>
            </a:pPr>
            <a:r>
              <a:t>char b[6] = "Hello";</a:t>
            </a:r>
          </a:p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EEF4FC"/>
                </a:solidFill>
                <a:latin typeface="DejaVu Sans Mono"/>
              </a:defRPr>
            </a:pPr>
            <a:r>
              <a:t>char c[10] = "Hello";</a:t>
            </a:r>
          </a:p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EEF4FC"/>
                </a:solidFill>
                <a:latin typeface="DejaVu Sans Mono"/>
              </a:defRPr>
            </a:pPr>
            <a:r>
              <a:t>char d[] = {</a:t>
            </a:r>
          </a:p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EEF4FC"/>
                </a:solidFill>
                <a:latin typeface="DejaVu Sans Mono"/>
              </a:defRPr>
            </a:pPr>
            <a:r>
              <a:t>  'H', 'e', 'l', 'l', 'o', '\0'</a:t>
            </a:r>
          </a:p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EEF4FC"/>
                </a:solidFill>
                <a:latin typeface="DejaVu Sans Mono"/>
              </a:defRPr>
            </a:pPr>
            <a:r>
              <a:t>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ขนาดอาเรย์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a, b, d &gt; 6 ช่อง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c &gt; 10 ช่อง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ข้อความยาว 5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แต่ต้องมี \0 ปิดท้าย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char bad[5] = "Hello"; ไม่มีที่สำหรับ \0 &gt; ห้ามใช้เป็น String ตามปกติ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03 / STRING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อ่านและแก้ไขตัวอักษร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ใช้ Index เช่นเดียวกับอาเรย์ 1 มิติ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16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5204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char word[] = "CAT";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printf("%c\n", word[0]);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word[0] = 'B';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printf("%s\n", word);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C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BAT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%c &gt; ตัวอักษร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%s &gt; String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'A' คือ char • "A" คือ String ที่มี 'A' และ '\0'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03 / STRING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รับ String: หนึ่งคำ หรือทั้งบรรทัด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ทดลองสองตัวอย่างนี้แยกกัน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17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5486400" cy="20574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12848"/>
            <a:ext cx="508406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606039"/>
            <a:ext cx="5084064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char name[20];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if (scanf("%19s", name) == 1) {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printf("%s\n", name);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5394960" cy="20574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2212848"/>
            <a:ext cx="4992624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606039"/>
            <a:ext cx="4992624" cy="1463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EEF4FC"/>
                </a:solidFill>
                <a:latin typeface="DejaVu Sans Mono"/>
              </a:defRPr>
            </a:pPr>
            <a:r>
              <a:t>char line[100];</a:t>
            </a:r>
          </a:p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EEF4FC"/>
                </a:solidFill>
                <a:latin typeface="DejaVu Sans Mono"/>
              </a:defRPr>
            </a:pPr>
            <a:r>
              <a:t>if (fgets(line, sizeof line,</a:t>
            </a:r>
          </a:p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EEF4FC"/>
                </a:solidFill>
                <a:latin typeface="DejaVu Sans Mono"/>
              </a:defRPr>
            </a:pPr>
            <a:r>
              <a:t>          stdin) != NULL) {</a:t>
            </a:r>
          </a:p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EEF4FC"/>
                </a:solidFill>
                <a:latin typeface="DejaVu Sans Mono"/>
              </a:defRPr>
            </a:pPr>
            <a:r>
              <a:t>  printf("%s", line);</a:t>
            </a:r>
          </a:p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34840"/>
            <a:ext cx="512064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162238"/>
                </a:solidFill>
                <a:latin typeface="Loma"/>
              </a:defRPr>
            </a:pPr>
            <a:r>
              <a:t>scanf: อ่านหนึ่งคำ หยุดที่ช่องว่าง</a:t>
            </a:r>
          </a:p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162238"/>
                </a:solidFill>
                <a:latin typeface="Loma"/>
              </a:defRPr>
            </a:pPr>
            <a:r>
              <a:t>%19s เผื่อช่องสุดท้ายสำหรับ \0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434840"/>
            <a:ext cx="4937760" cy="9601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162238"/>
                </a:solidFill>
                <a:latin typeface="Loma"/>
              </a:defRPr>
            </a:pPr>
            <a:r>
              <a:t>fgets: อ่านข้อความที่มีช่องว่างได้</a:t>
            </a:r>
          </a:p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162238"/>
                </a:solidFill>
                <a:latin typeface="Loma"/>
              </a:defRPr>
            </a:pPr>
            <a:r>
              <a:t>อาจเก็บ \n ไว้ท้ายข้อความด้วย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scanf("%19s", name) ใช้ชื่อ char array โดยไม่เติม &amp;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03 / STRING.H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ฟังก์ชันพื้นฐานของ 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เพิ่ม #include &lt;string.h&gt; ก่อนเรียกใช้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18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110642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95144"/>
            <a:ext cx="3657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087F8C"/>
                </a:solidFill>
                <a:latin typeface="DejaVu Sans Mono"/>
              </a:defRPr>
            </a:pPr>
            <a:r>
              <a:t>strlen(s)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295144"/>
            <a:ext cx="3657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162238"/>
                </a:solidFill>
                <a:latin typeface="Loma"/>
              </a:defRPr>
            </a:pPr>
            <a:r>
              <a:t>หาความยาว ไม่รวม \0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95144"/>
            <a:ext cx="32004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64748B"/>
                </a:solidFill>
                <a:latin typeface="Loma"/>
              </a:defRPr>
            </a:pPr>
            <a:r>
              <a:t>strlen("Cat") &gt;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26080"/>
            <a:ext cx="110642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72384"/>
            <a:ext cx="3657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087F8C"/>
                </a:solidFill>
                <a:latin typeface="DejaVu Sans Mono"/>
              </a:defRPr>
            </a:pPr>
            <a:r>
              <a:t>strcpy(dst, src)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72384"/>
            <a:ext cx="3657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162238"/>
                </a:solidFill>
                <a:latin typeface="Loma"/>
              </a:defRPr>
            </a:pPr>
            <a:r>
              <a:t>คัดลอกข้อความ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072384"/>
            <a:ext cx="32004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64748B"/>
                </a:solidFill>
                <a:latin typeface="Loma"/>
              </a:defRPr>
            </a:pPr>
            <a:r>
              <a:t>strcpy(name, "Ann");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03320"/>
            <a:ext cx="110642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49624"/>
            <a:ext cx="3657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087F8C"/>
                </a:solidFill>
                <a:latin typeface="DejaVu Sans Mono"/>
              </a:defRPr>
            </a:pPr>
            <a:r>
              <a:t>strcat(dst, src)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849624"/>
            <a:ext cx="3657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162238"/>
                </a:solidFill>
                <a:latin typeface="Loma"/>
              </a:defRPr>
            </a:pPr>
            <a:r>
              <a:t>ต่อท้ายข้อความ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849624"/>
            <a:ext cx="32004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64748B"/>
                </a:solidFill>
                <a:latin typeface="Loma"/>
              </a:defRPr>
            </a:pPr>
            <a:r>
              <a:t>strcat(text, "!");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480560"/>
            <a:ext cx="1106424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626864"/>
            <a:ext cx="3657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1">
                <a:solidFill>
                  <a:srgbClr val="087F8C"/>
                </a:solidFill>
                <a:latin typeface="DejaVu Sans Mono"/>
              </a:defRPr>
            </a:pPr>
            <a:r>
              <a:t>strcmp(a, 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626864"/>
            <a:ext cx="3657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162238"/>
                </a:solidFill>
                <a:latin typeface="Loma"/>
              </a:defRPr>
            </a:pPr>
            <a:r>
              <a:t>เปรียบเทียบข้อความ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626864"/>
            <a:ext cx="32004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64748B"/>
                </a:solidFill>
                <a:latin typeface="Loma"/>
              </a:defRPr>
            </a:pPr>
            <a:r>
              <a:t>ค่าเป็น 0 เมื่อเหมือนกัน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strcpy / strcat ต้องมีที่พอรวม \0 • strcmp คืนค่าลบ ศูนย์ หรือบวก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03 / STRING FUNCTIONS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คัดลอก ต่อท้าย และเปรียบเทียบ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ตัวอย่างนี้ใช้อาเรย์ปลายทางขนาด 20 ช่อง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19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5204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char text[20] = "Hello";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char copy[20];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strcat(text, " C");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strcpy(copy, text);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printf("%s\n", text);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printf("Length = %zu\n", strlen(text));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if (strcmp(text, copy) == 0) {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printf("Same text\n");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Hello C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Length = 7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Same text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strlen คืนค่า size_t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ใช้ %zu ใน C99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03 / REVERSE 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Reverse Word: กลับลำดับตัวอักษร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สลับตัวแรกกับตัวท้าย แล้วขยับเข้าหากึ่งกลาง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20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5204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char word[] = "HELLO";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length = (int)strlen(word);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for (int i = 0; i &lt; length / 2; i++) {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char temp = word[i];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word[i] = word[length - 1 - i];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word[length - 1 - i] = temp;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printf("%s\n", word);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ทีละขั้น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HELLO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v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OELLH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v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OLLEH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สลับเพียงครึ่งเดียว และไม่ย้าย \0 • ตัวอย่างนี้ใช้กับข้อความ ASCII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03 / STRING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String Tips: จุดที่พลาดบ่อย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แยกความยาวข้อความออกจากขนาดพื้นที่ที่เตรียมไว้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21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224028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1645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0"/>
              </a:spcAft>
              <a:defRPr sz="2000" b="0">
                <a:solidFill>
                  <a:srgbClr val="EEF4FC"/>
                </a:solidFill>
                <a:latin typeface="DejaVu Sans Mono"/>
              </a:defRPr>
            </a:pPr>
            <a:r>
              <a:t>char text[20] = "Hi";</a:t>
            </a:r>
          </a:p>
          <a:p>
            <a:pPr>
              <a:lnSpc>
                <a:spcPts val="2560"/>
              </a:lnSpc>
              <a:spcAft>
                <a:spcPts val="0"/>
              </a:spcAft>
              <a:defRPr sz="2000" b="0">
                <a:solidFill>
                  <a:srgbClr val="EEF4FC"/>
                </a:solidFill>
                <a:latin typeface="DejaVu Sans Mono"/>
              </a:defRPr>
            </a:pPr>
          </a:p>
          <a:p>
            <a:pPr>
              <a:lnSpc>
                <a:spcPts val="2560"/>
              </a:lnSpc>
              <a:spcAft>
                <a:spcPts val="0"/>
              </a:spcAft>
              <a:defRPr sz="2000" b="0">
                <a:solidFill>
                  <a:srgbClr val="EEF4FC"/>
                </a:solidFill>
                <a:latin typeface="DejaVu Sans Mono"/>
              </a:defRPr>
            </a:pPr>
            <a:r>
              <a:t>printf("%zu\n", sizeof text); // 20</a:t>
            </a:r>
          </a:p>
          <a:p>
            <a:pPr>
              <a:lnSpc>
                <a:spcPts val="2560"/>
              </a:lnSpc>
              <a:spcAft>
                <a:spcPts val="0"/>
              </a:spcAft>
              <a:defRPr sz="2000" b="0">
                <a:solidFill>
                  <a:srgbClr val="EEF4FC"/>
                </a:solidFill>
                <a:latin typeface="DejaVu Sans Mono"/>
              </a:defRPr>
            </a:pPr>
            <a:r>
              <a:t>printf("%zu\n", strlen(text)); //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จำให้ขึ้นใจ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เผื่อ \0 เสมอ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เทียบข้อความ: strcmp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เปลี่ยนข้อความ: strcpy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รับข้อมูล: จำกัดความยาว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17720"/>
            <a:ext cx="6583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162238"/>
                </a:solidFill>
                <a:latin typeface="Loma"/>
              </a:defRPr>
            </a:pPr>
            <a:r>
              <a:t>sizeof text: ขนาดอาเรย์นี้เป็นไบต์</a:t>
            </a:r>
          </a:p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162238"/>
                </a:solidFill>
                <a:latin typeface="Loma"/>
              </a:defRPr>
            </a:pPr>
            <a:r>
              <a:t>strlen(text): ความยาวข้อความ ไม่รวม \0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scanf แล้วตามด้วย fgets: ระวัง \n ที่ค้างอยู่ในอินพุต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04 / MULTI-DIMENSIONAL 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อาเรย์ 2 มิติ: แถว × คอลัมน์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int matrix[2][3];  &gt;  2 แถว แถวละ 3 สมาชิก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22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48840"/>
            <a:ext cx="21945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Loma"/>
              </a:defRPr>
            </a:pPr>
            <a:r>
              <a:t>Column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148840"/>
            <a:ext cx="21945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Loma"/>
              </a:defRPr>
            </a:pPr>
            <a:r>
              <a:t>Column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2148840"/>
            <a:ext cx="21945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Loma"/>
              </a:defRPr>
            </a:pPr>
            <a:r>
              <a:t>Column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26080"/>
            <a:ext cx="1828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087F8C"/>
                </a:solidFill>
                <a:latin typeface="Loma"/>
              </a:defRPr>
            </a:pPr>
            <a:r>
              <a:t>Row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834640"/>
            <a:ext cx="2377440" cy="8412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063240"/>
            <a:ext cx="21488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FFFFFF"/>
                </a:solidFill>
                <a:latin typeface="DejaVu Sans Mono"/>
              </a:defRPr>
            </a:pPr>
            <a:r>
              <a:t>[0][0]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0" y="2834640"/>
            <a:ext cx="2377440" cy="8412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60" y="3063240"/>
            <a:ext cx="21488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FFFFFF"/>
                </a:solidFill>
                <a:latin typeface="DejaVu Sans Mono"/>
              </a:defRPr>
            </a:pPr>
            <a:r>
              <a:t>[0][1]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834640"/>
            <a:ext cx="2377440" cy="8412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063240"/>
            <a:ext cx="21488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FFFFFF"/>
                </a:solidFill>
                <a:latin typeface="DejaVu Sans Mono"/>
              </a:defRPr>
            </a:pPr>
            <a:r>
              <a:t>[0][2]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977639"/>
            <a:ext cx="18288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328"/>
              </a:lnSpc>
              <a:spcAft>
                <a:spcPts val="0"/>
              </a:spcAft>
              <a:defRPr sz="2600" b="1">
                <a:solidFill>
                  <a:srgbClr val="087F8C"/>
                </a:solidFill>
                <a:latin typeface="Loma"/>
              </a:defRPr>
            </a:pPr>
            <a:r>
              <a:t>Row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3886200"/>
            <a:ext cx="2377440" cy="8412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4114800"/>
            <a:ext cx="21488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FFFFFF"/>
                </a:solidFill>
                <a:latin typeface="DejaVu Sans Mono"/>
              </a:defRPr>
            </a:pPr>
            <a:r>
              <a:t>[1][0]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0" y="3886200"/>
            <a:ext cx="2377440" cy="8412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4114800"/>
            <a:ext cx="21488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FFFFFF"/>
                </a:solidFill>
                <a:latin typeface="DejaVu Sans Mono"/>
              </a:defRPr>
            </a:pPr>
            <a:r>
              <a:t>[1][1]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3886200"/>
            <a:ext cx="2377440" cy="841248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114800"/>
            <a:ext cx="21488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0">
                <a:solidFill>
                  <a:srgbClr val="FFFFFF"/>
                </a:solidFill>
                <a:latin typeface="DejaVu Sans Mono"/>
              </a:defRPr>
            </a:pPr>
            <a:r>
              <a:t>[1][2]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เข้าถึงด้วย matrix[row][column] • Index ของทุกมิติเริ่มที่ 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04 / 2D INITIALIZATION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กำหนดค่าเริ่มต้นอาเรย์ 2 มิติ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ใช้วงเล็บปีกกาชั้นในเพื่อแยกข้อมูลแต่ละแถว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23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2918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697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a[2][3] = {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{1, 2, 3},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{4, 5, 6}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};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b[2][3] = {0};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c[2][3] = {{1}, {2, 3}};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d[][3] = {{1, 2, 3}, {4, 5, 6}};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ค่าที่ได้ใน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1  0  0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2  3  0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b: ทุกสมาชิกเป็น 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d: คอมไพเลอร์นับแถว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รูปแบบ d[][3] ละจำนวนแถวได้ แต่ยังต้องระบุจำนวนคอลัมน์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04 / 2D TRAVERSAL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ใช้ลูปซ้อนกับอาเรย์ 2 มิติ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ลูปนอกเลือกแถว • ลูปในเลือกคอลัมน์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24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7132320" cy="352044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7299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729983" cy="2926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int a[2][3] = {{1, 2, 3}, {4, 5, 6}};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a[1][2] = 99;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for (int row = 0; row &lt; 2; row++) {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for (int col = 0; col &lt; 3; col++) {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  printf("%d ", a[row][col]);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}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  printf("\n");</a:t>
            </a:r>
          </a:p>
          <a:p>
            <a:pPr>
              <a:lnSpc>
                <a:spcPts val="2304"/>
              </a:lnSpc>
              <a:spcAft>
                <a:spcPts val="0"/>
              </a:spcAft>
              <a:defRPr sz="1800" b="0">
                <a:solidFill>
                  <a:srgbClr val="EEF4FC"/>
                </a:solidFill>
                <a:latin typeface="DejaVu Sans Mono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21408"/>
            <a:ext cx="35661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  <a:defRPr sz="2400" b="1">
                <a:solidFill>
                  <a:srgbClr val="087F8C"/>
                </a:solidFill>
                <a:latin typeface="Loma"/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761487"/>
            <a:ext cx="3566160" cy="3200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1 2 3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4 5 99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หน่วยความจำเรียง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สมาชิกของแถว 0</a:t>
            </a:r>
          </a:p>
          <a:p>
            <a:pPr>
              <a:lnSpc>
                <a:spcPts val="2816"/>
              </a:lnSpc>
              <a:spcAft>
                <a:spcPts val="0"/>
              </a:spcAft>
              <a:defRPr sz="2200" b="0">
                <a:solidFill>
                  <a:srgbClr val="162238"/>
                </a:solidFill>
                <a:latin typeface="Loma"/>
              </a:defRPr>
            </a:pPr>
            <a:r>
              <a:t>ก่อนสมาชิกของแถว 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04 / 3D ARRAY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อาเรย์ 3 มิติ: ชั้น × แถว × คอลัมน์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cube[2][2][3] มีสมาชิกทั้งหมด 2 × 2 × 3 = 12 ตัว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25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" y="2029968"/>
            <a:ext cx="6675120" cy="3200400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2139696"/>
            <a:ext cx="6272783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1">
                <a:solidFill>
                  <a:srgbClr val="7DD3CF"/>
                </a:solidFill>
                <a:latin typeface="Loma"/>
              </a:defRPr>
            </a:pPr>
            <a:r>
              <a:t>C99  / 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2532888"/>
            <a:ext cx="6272783" cy="2606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int cube[2][2][3] = {</a:t>
            </a: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  {{1, 2, 3}, {4, 5, 6}},</a:t>
            </a: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  {{7, 8, 9}, {10, 11, 12}}</a:t>
            </a: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};</a:t>
            </a: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</a:p>
          <a:p>
            <a:pPr>
              <a:lnSpc>
                <a:spcPts val="2432"/>
              </a:lnSpc>
              <a:spcAft>
                <a:spcPts val="0"/>
              </a:spcAft>
              <a:defRPr sz="1900" b="0">
                <a:solidFill>
                  <a:srgbClr val="EEF4FC"/>
                </a:solidFill>
                <a:latin typeface="DejaVu Sans Mono"/>
              </a:defRPr>
            </a:pPr>
            <a:r>
              <a:t>printf("%d\n", cube[1][0][2]);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084831"/>
            <a:ext cx="3657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Loma"/>
              </a:defRPr>
            </a:pPr>
            <a:r>
              <a:t>Layer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2523744"/>
            <a:ext cx="1143000" cy="42062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91272" y="2569463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2523744"/>
            <a:ext cx="1143000" cy="42062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25712" y="2569463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2523744"/>
            <a:ext cx="1143000" cy="42062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60152" y="2569463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0" y="2999232"/>
            <a:ext cx="1143000" cy="42062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91272" y="3044951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2999232"/>
            <a:ext cx="1143000" cy="42062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2" y="3044951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2999232"/>
            <a:ext cx="1143000" cy="42062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0152" y="3044951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730752"/>
            <a:ext cx="3657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60"/>
              </a:lnSpc>
              <a:spcAft>
                <a:spcPts val="0"/>
              </a:spcAft>
              <a:defRPr sz="2000" b="1">
                <a:solidFill>
                  <a:srgbClr val="087F8C"/>
                </a:solidFill>
                <a:latin typeface="Loma"/>
              </a:defRPr>
            </a:pPr>
            <a:r>
              <a:t>Layer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80960" y="4169664"/>
            <a:ext cx="1143000" cy="42062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2" y="4215384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15400" y="4169664"/>
            <a:ext cx="1143000" cy="42062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25712" y="4215384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49840" y="4169664"/>
            <a:ext cx="1143000" cy="420624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60152" y="4215384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80960" y="4645152"/>
            <a:ext cx="1143000" cy="42062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2" y="4690872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15400" y="4645152"/>
            <a:ext cx="1143000" cy="42062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4690872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11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4645152"/>
            <a:ext cx="1143000" cy="420624"/>
          </a:xfrm>
          <a:prstGeom prst="rect">
            <a:avLst/>
          </a:prstGeom>
          <a:solidFill>
            <a:srgbClr val="15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60152" y="4690872"/>
            <a:ext cx="82296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76"/>
              </a:lnSpc>
              <a:spcAft>
                <a:spcPts val="0"/>
              </a:spcAft>
              <a:defRPr sz="1700" b="0">
                <a:solidFill>
                  <a:srgbClr val="FFFFFF"/>
                </a:solidFill>
                <a:latin typeface="DejaVu Sans Mono"/>
              </a:defRPr>
            </a:pPr>
            <a:r>
              <a:t>12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cube[1][0][2] = 9 &gt; ชั้นที่ 1 / แถวที่ 0 / คอลัมน์ที่ 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64"/>
              </a:lnSpc>
              <a:spcAft>
                <a:spcPts val="0"/>
              </a:spcAft>
              <a:defRPr sz="1300" b="1">
                <a:solidFill>
                  <a:srgbClr val="087F8C"/>
                </a:solidFill>
                <a:latin typeface="Loma"/>
              </a:defRPr>
            </a:pPr>
            <a:r>
              <a:t>PRACTICE / 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04088"/>
            <a:ext cx="11155680" cy="685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352"/>
              </a:lnSpc>
              <a:spcAft>
                <a:spcPts val="0"/>
              </a:spcAft>
              <a:defRPr sz="3400" b="1">
                <a:solidFill>
                  <a:srgbClr val="162238"/>
                </a:solidFill>
                <a:latin typeface="Loma"/>
              </a:defRPr>
            </a:pPr>
            <a:r>
              <a:t>ลองทำด้วยตัวเอง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417320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64748B"/>
                </a:solidFill>
                <a:latin typeface="Loma"/>
              </a:defRPr>
            </a:pPr>
            <a:r>
              <a:t>ใช้เฉพาะ Array, String, if และ loop ที่เรียนในบทนี้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19088"/>
            <a:ext cx="11155680" cy="10972"/>
          </a:xfrm>
          <a:prstGeom prst="rect">
            <a:avLst/>
          </a:prstGeom>
          <a:solidFill>
            <a:srgbClr val="D9D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519672"/>
            <a:ext cx="8229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8"/>
              </a:lnSpc>
              <a:spcAft>
                <a:spcPts val="0"/>
              </a:spcAft>
              <a:defRPr sz="1100" b="0">
                <a:solidFill>
                  <a:srgbClr val="64748B"/>
                </a:solidFill>
                <a:latin typeface="Loma"/>
              </a:defRPr>
            </a:pPr>
            <a:r>
              <a:t>ARRAY IN C  /  C99  /  ตัวอย่างแต่ละชุดใช้แยกกันภายใน main()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8229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36"/>
              </a:lnSpc>
              <a:spcAft>
                <a:spcPts val="0"/>
              </a:spcAft>
              <a:defRPr sz="1200" b="1">
                <a:solidFill>
                  <a:srgbClr val="087F8C"/>
                </a:solidFill>
                <a:latin typeface="Loma"/>
              </a:defRPr>
            </a:pPr>
            <a:r>
              <a:t>26 / 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57400"/>
            <a:ext cx="54406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03704"/>
            <a:ext cx="5074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1">
                <a:solidFill>
                  <a:srgbClr val="087F8C"/>
                </a:solidFill>
                <a:latin typeface="Loma"/>
              </a:defRPr>
            </a:pPr>
            <a:r>
              <a:t>01 / MAX • MIN • AVERAGE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50749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162238"/>
                </a:solidFill>
                <a:latin typeface="Loma"/>
              </a:defRPr>
            </a:pPr>
            <a:r>
              <a:t>สร้างอาเรย์จำนวนเต็ม 5 ค่า แล้วหาค่าสถิติ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057400"/>
            <a:ext cx="54406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03704"/>
            <a:ext cx="5074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1">
                <a:solidFill>
                  <a:srgbClr val="087F8C"/>
                </a:solidFill>
                <a:latin typeface="Loma"/>
              </a:defRPr>
            </a:pPr>
            <a:r>
              <a:t>02 / BUBBLE SORT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788920"/>
            <a:ext cx="50749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162238"/>
                </a:solidFill>
                <a:latin typeface="Loma"/>
              </a:defRPr>
            </a:pPr>
            <a:r>
              <a:t>เรียงข้อมูลจากมากไปน้อย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66160"/>
            <a:ext cx="54406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12463"/>
            <a:ext cx="5074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1">
                <a:solidFill>
                  <a:srgbClr val="087F8C"/>
                </a:solidFill>
                <a:latin typeface="Loma"/>
              </a:defRPr>
            </a:pPr>
            <a:r>
              <a:t>03 / REVERSE 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50749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162238"/>
                </a:solidFill>
                <a:latin typeface="Loma"/>
              </a:defRPr>
            </a:pPr>
            <a:r>
              <a:t>รับคำอังกฤษไม่เกิน 19 ตัว แล้วกลับลำดับ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566160"/>
            <a:ext cx="54406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712463"/>
            <a:ext cx="50749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44"/>
              </a:lnSpc>
              <a:spcAft>
                <a:spcPts val="0"/>
              </a:spcAft>
              <a:defRPr sz="2300" b="1">
                <a:solidFill>
                  <a:srgbClr val="087F8C"/>
                </a:solidFill>
                <a:latin typeface="Loma"/>
              </a:defRPr>
            </a:pPr>
            <a:r>
              <a:t>04 / 2D ARRAY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297680"/>
            <a:ext cx="50749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88"/>
              </a:lnSpc>
              <a:spcAft>
                <a:spcPts val="0"/>
              </a:spcAft>
              <a:defRPr sz="2100" b="0">
                <a:solidFill>
                  <a:srgbClr val="162238"/>
                </a:solidFill>
                <a:latin typeface="Loma"/>
              </a:defRPr>
            </a:pPr>
            <a:r>
              <a:t>สร้างอาเรย์ 2 × 3 แล้วหาผลรวมแต่ละแถว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5669280"/>
            <a:ext cx="11109960" cy="502920"/>
          </a:xfrm>
          <a:prstGeom prst="rect">
            <a:avLst/>
          </a:prstGeom>
          <a:solidFill>
            <a:srgbClr val="DE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51576"/>
            <a:ext cx="10744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32"/>
              </a:lnSpc>
              <a:spcAft>
                <a:spcPts val="0"/>
              </a:spcAft>
              <a:defRPr sz="1900" b="1">
                <a:solidFill>
                  <a:srgbClr val="087F8C"/>
                </a:solidFill>
                <a:latin typeface="Loma"/>
              </a:defRPr>
            </a:pPr>
            <a:r>
              <a:t>เช็กความเข้าใจ: int a[5] = {1}; แต่ละช่องมีค่าอะไร?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 in C — สไลด์ประกอบการสอน</dc:title>
  <dc:subject>Array datatype, 1D arrays, String, Multi-dimensional arrays; C99</dc:subject>
  <dc:creator>Teaching Materials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